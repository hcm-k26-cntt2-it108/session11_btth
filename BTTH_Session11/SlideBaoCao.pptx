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Số phiếu</c:v>
                </c:pt>
              </c:strCache>
            </c:strRef>
          </c:tx>
          <c:dPt>
            <c:idx val="0"/>
            <c:spPr>
              <a:solidFill>
                <a:srgbClr val="147D73"/>
              </a:solidFill>
            </c:spPr>
          </c:dPt>
          <c:dPt>
            <c:idx val="1"/>
            <c:spPr>
              <a:solidFill>
                <a:srgbClr val="E39A3A"/>
              </a:solidFill>
            </c:spPr>
          </c:dPt>
          <c:dPt>
            <c:idx val="2"/>
            <c:spPr>
              <a:solidFill>
                <a:srgbClr val="628BB5"/>
              </a:solidFill>
            </c:spPr>
          </c:dPt>
          <c:cat>
            <c:strRef>
              <c:f>Sheet1!$A$2:$A$4</c:f>
              <c:strCache>
                <c:ptCount val="3"/>
                <c:pt idx="0">
                  <c:v>Đang mượn</c:v>
                </c:pt>
                <c:pt idx="1">
                  <c:v>Quá hạn</c:v>
                </c:pt>
                <c:pt idx="2">
                  <c:v>Đã trả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dLblPos val="bestFit"/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B5E"/>
                </a:solidFill>
                <a:latin typeface="Aptos"/>
              </a:defRPr>
            </a:pPr>
            <a:r>
              <a:t>3 trong 4 phiếu ghép được mã sách với danh mục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2344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36372"/>
                </a:solidFill>
                <a:latin typeface="Aptos"/>
              </a:defRPr>
            </a:pPr>
            <a:r>
              <a:t>PHIẾU MƯỢN THÁNG 10  |  4 bản ghi đã chuẩn hóa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147D73"/>
                </a:solidFill>
                <a:latin typeface="Aptos"/>
              </a:defRPr>
            </a:pPr>
            <a:r>
              <a:t>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0632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63746"/>
                </a:solidFill>
                <a:latin typeface="Aptos"/>
              </a:defRPr>
            </a:pPr>
            <a:r>
              <a:t>mã sách có trong danh mục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657600"/>
            <a:ext cx="4160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36372"/>
                </a:solidFill>
                <a:latin typeface="Aptos"/>
              </a:defRPr>
            </a:pPr>
            <a:r>
              <a:t>S099 không khớp với danh mục và hiển thị “Không tìm thấy sách”.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82880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3B5E"/>
                </a:solidFill>
                <a:latin typeface="Aptos"/>
              </a:defRPr>
            </a:pPr>
            <a:r>
              <a:t>Tình trạng phiếu mượn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035040" y="2240280"/>
          <a:ext cx="521208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1447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3746"/>
                </a:solidFill>
                <a:latin typeface="Aptos"/>
              </a:defRPr>
            </a:pPr>
            <a:r>
              <a:t>Tổng thể: 4 phiếu  |  2 đang mượn  |  1 quá hạn  |  1 đã trả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